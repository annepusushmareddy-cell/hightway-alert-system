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59" r:id="rId5"/>
    <p:sldId id="260" r:id="rId6"/>
    <p:sldId id="261" r:id="rId7"/>
    <p:sldId id="262" r:id="rId8"/>
    <p:sldId id="268" r:id="rId19"/>
    <p:sldId id="270" r:id="rId21"/>
    <p:sldId id="264" r:id="rId10"/>
    <p:sldId id="269" r:id="rId2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b3f00e9-e27e-ce2a-fbfe-e0d641f93c46}">
          <p14:sldIdLst>
            <p14:sldId id="256"/>
            <p14:sldId id="257"/>
            <p14:sldId id="258"/>
            <p14:sldId id="259"/>
          </p14:sldIdLst>
        </p14:section>
        <p14:section name="Design" id="{fbf9defd-8c0d-5447-7980-9120dfc33add}">
          <p14:sldIdLst>
            <p14:sldId id="260"/>
            <p14:sldId id="261"/>
            <p14:sldId id="262"/>
            <p14:sldId id="263"/>
          </p14:sldIdLst>
        </p14:section>
        <p14:section name="Wrap-up" id="{a27915f0-f387-3887-8f73-a634fff9edfd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10" Type="http://schemas.openxmlformats.org/officeDocument/2006/relationships/slide" Target="slides/slide12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9.xml"/><Relationship Id="rId20" Type="http://schemas.openxmlformats.org/officeDocument/2006/relationships/slide" Target="slides/slide13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highway alert system. One vehicle detects a hazard and the alert is broadcast to every vehicle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dangers on highways: sudden stops, damaged roads and accidents. Drivers need an early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hazard has its own icon and alert level. Red means danger, amber means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question. If only one car gets the alert, the cars behind still find out late. With a broadcast, every vehicle behind the hazard is warned at once. The numbers come from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detect, broadcast, deliver, warn. In a real system the message goes over V2V radio, 5G or a cloud server like Google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event has its own detector and its own message. Whoever detects it first sends it to everyone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the browser with no extra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come from running the simulation with six vehicles. They show the idea, they are not real traffic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to turn the simulation into a real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alert is sent to every vehicle behind the hazard, not just one car. Thank the audience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client asks 'why should we take this?': 1) One vehicle detects a hazard and every vehicle behind is warned in about 0.25 s, not just one car. 2) In our simulation, a sudden stop at 90 km/h caused 3 crashes without alerts and 0 with alerts. 3) Cars change lane and keep moving instead of everybody stopping. 4) It also protects people: a blind person on the road and a drunk driver nearby are both alerted. 5) It can run over the mobile network, so no new road equipment is needed. Be honest: this is a simulation, and the camera and sensors are proposed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prototype: each vehicle is an ESP32 board. Car 1 detects hard braking with an MPU6050 accelerometer, road damage with a button, a person with an ultrasonic sensor on a smart cane, and alcohol with an MQ-3 sensor. It broadcasts the alert with ESP-NOW and the other boards show it on an OLED with an LED and a buzzer. Limits: short range, not real V2X radio, MQ-3 is demo-level, not tested on a real road.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4572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Highway Alert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6.png"/><Relationship Id="rId12" Type="http://schemas.openxmlformats.org/officeDocument/2006/relationships/image" Target="../media/image5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Highway Alert System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Alerts for every vehicle on the road, not just one car</a:t>
            </a:r>
            <a:endParaRPr lang="en-US" sz="1800" dirty="0"/>
          </a:p>
        </p:txBody>
      </p:sp>
      <p:sp>
        <p:nvSpPr>
          <p:cNvPr id="5" name="Cover road"/>
          <p:cNvSpPr/>
          <p:nvPr/>
        </p:nvSpPr>
        <p:spPr>
          <a:xfrm>
            <a:off x="5577840" y="548640"/>
            <a:ext cx="3017520" cy="40233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over lane dash"/>
          <p:cNvSpPr/>
          <p:nvPr/>
        </p:nvSpPr>
        <p:spPr>
          <a:xfrm>
            <a:off x="6565392" y="6858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ver lane dash"/>
          <p:cNvSpPr/>
          <p:nvPr/>
        </p:nvSpPr>
        <p:spPr>
          <a:xfrm>
            <a:off x="6565392" y="11887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ver lane dash"/>
          <p:cNvSpPr/>
          <p:nvPr/>
        </p:nvSpPr>
        <p:spPr>
          <a:xfrm>
            <a:off x="6565392" y="16916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ver lane dash"/>
          <p:cNvSpPr/>
          <p:nvPr/>
        </p:nvSpPr>
        <p:spPr>
          <a:xfrm>
            <a:off x="6565392" y="219456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ver lane dash"/>
          <p:cNvSpPr/>
          <p:nvPr/>
        </p:nvSpPr>
        <p:spPr>
          <a:xfrm>
            <a:off x="6565392" y="269748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ver lane dash"/>
          <p:cNvSpPr/>
          <p:nvPr/>
        </p:nvSpPr>
        <p:spPr>
          <a:xfrm>
            <a:off x="6565392" y="32004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ver lane dash"/>
          <p:cNvSpPr/>
          <p:nvPr/>
        </p:nvSpPr>
        <p:spPr>
          <a:xfrm>
            <a:off x="6565392" y="37033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ver lane dash"/>
          <p:cNvSpPr/>
          <p:nvPr/>
        </p:nvSpPr>
        <p:spPr>
          <a:xfrm>
            <a:off x="6565392" y="42062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ver lane dash"/>
          <p:cNvSpPr/>
          <p:nvPr/>
        </p:nvSpPr>
        <p:spPr>
          <a:xfrm>
            <a:off x="7571232" y="6858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over lane dash"/>
          <p:cNvSpPr/>
          <p:nvPr/>
        </p:nvSpPr>
        <p:spPr>
          <a:xfrm>
            <a:off x="7571232" y="11887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ver lane dash"/>
          <p:cNvSpPr/>
          <p:nvPr/>
        </p:nvSpPr>
        <p:spPr>
          <a:xfrm>
            <a:off x="7571232" y="16916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over lane dash"/>
          <p:cNvSpPr/>
          <p:nvPr/>
        </p:nvSpPr>
        <p:spPr>
          <a:xfrm>
            <a:off x="7571232" y="219456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ver lane dash"/>
          <p:cNvSpPr/>
          <p:nvPr/>
        </p:nvSpPr>
        <p:spPr>
          <a:xfrm>
            <a:off x="7571232" y="269748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over lane dash"/>
          <p:cNvSpPr/>
          <p:nvPr/>
        </p:nvSpPr>
        <p:spPr>
          <a:xfrm>
            <a:off x="7571232" y="32004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over lane dash"/>
          <p:cNvSpPr/>
          <p:nvPr/>
        </p:nvSpPr>
        <p:spPr>
          <a:xfrm>
            <a:off x="7571232" y="37033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over lane dash"/>
          <p:cNvSpPr/>
          <p:nvPr/>
        </p:nvSpPr>
        <p:spPr>
          <a:xfrm>
            <a:off x="7571232" y="42062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Cover truck" descr="Vehicle a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870509"/>
            <a:ext cx="502920" cy="1257300"/>
          </a:xfrm>
          <a:prstGeom prst="rect">
            <a:avLst/>
          </a:prstGeom>
        </p:spPr>
      </p:pic>
      <p:pic>
        <p:nvPicPr>
          <p:cNvPr id="23" name="Cover car" descr="Your 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57" y="3525926"/>
            <a:ext cx="462686" cy="925373"/>
          </a:xfrm>
          <a:prstGeom prst="rect">
            <a:avLst/>
          </a:prstGeom>
        </p:spPr>
      </p:pic>
      <p:pic>
        <p:nvPicPr>
          <p:cNvPr id="24" name="Cover pothole" descr="Road da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58" y="2560320"/>
            <a:ext cx="724205" cy="488838"/>
          </a:xfrm>
          <a:prstGeom prst="rect">
            <a:avLst/>
          </a:prstGeom>
        </p:spPr>
      </p:pic>
      <p:pic>
        <p:nvPicPr>
          <p:cNvPr id="25" name="Cover accident" descr="Accid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991210"/>
            <a:ext cx="824789" cy="1030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highways need alerts</a:t>
            </a:r>
            <a:endParaRPr lang="en-US" sz="34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Problem 1 icon" descr="Probl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1617574"/>
            <a:ext cx="285293" cy="285293"/>
          </a:xfrm>
          <a:prstGeom prst="rect">
            <a:avLst/>
          </a:prstGeom>
        </p:spPr>
      </p:pic>
      <p:sp>
        <p:nvSpPr>
          <p:cNvPr id="5" name="Problem 1 text"/>
          <p:cNvSpPr txBox="1"/>
          <p:nvPr/>
        </p:nvSpPr>
        <p:spPr>
          <a:xfrm>
            <a:off x="1371600" y="1371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Sudden stops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vehicle ahead can brake hard with almost no warning, leaving little time to react.</a:t>
            </a:r>
            <a:endParaRPr lang="en-US" sz="1800" dirty="0"/>
          </a:p>
        </p:txBody>
      </p:sp>
      <p:sp>
        <p:nvSpPr>
          <p:cNvPr id="6" name="Problem 2 circle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roblem 2 icon" descr="Probl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4" y="2669134"/>
            <a:ext cx="285293" cy="285293"/>
          </a:xfrm>
          <a:prstGeom prst="rect">
            <a:avLst/>
          </a:prstGeom>
        </p:spPr>
      </p:pic>
      <p:sp>
        <p:nvSpPr>
          <p:cNvPr id="8" name="Problem 2 text"/>
          <p:cNvSpPr txBox="1"/>
          <p:nvPr/>
        </p:nvSpPr>
        <p:spPr>
          <a:xfrm>
            <a:off x="1371600" y="2423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Damaged roads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Potholes and broken surfaces are hard to see at high speed and can cause loss of control.</a:t>
            </a:r>
            <a:endParaRPr lang="en-US" sz="1800" dirty="0"/>
          </a:p>
        </p:txBody>
      </p:sp>
      <p:sp>
        <p:nvSpPr>
          <p:cNvPr id="9" name="Problem 3 circle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Problem 3 icon" descr="Probl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3720694"/>
            <a:ext cx="285293" cy="285293"/>
          </a:xfrm>
          <a:prstGeom prst="rect">
            <a:avLst/>
          </a:prstGeom>
        </p:spPr>
      </p:pic>
      <p:sp>
        <p:nvSpPr>
          <p:cNvPr id="11" name="Problem 3 text"/>
          <p:cNvSpPr txBox="1"/>
          <p:nvPr/>
        </p:nvSpPr>
        <p:spPr>
          <a:xfrm>
            <a:off x="1371600" y="3474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Accidents ahead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Drivers often learn about a blocked lane only when they reach it.</a:t>
            </a:r>
            <a:endParaRPr lang="en-US" sz="1800" dirty="0"/>
          </a:p>
        </p:txBody>
      </p:sp>
      <p:sp>
        <p:nvSpPr>
          <p:cNvPr id="12" name="Image card"/>
          <p:cNvSpPr/>
          <p:nvPr/>
        </p:nvSpPr>
        <p:spPr>
          <a:xfrm>
            <a:off x="5852160" y="132588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Accident image" descr="Accident on a highw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1828800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system warns about</a:t>
            </a:r>
            <a:endParaRPr lang="en-US" sz="3400" dirty="0"/>
          </a:p>
        </p:txBody>
      </p:sp>
      <p:sp>
        <p:nvSpPr>
          <p:cNvPr id="3" name="Alert card 1"/>
          <p:cNvSpPr/>
          <p:nvPr/>
        </p:nvSpPr>
        <p:spPr>
          <a:xfrm>
            <a:off x="54864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lert image 1" descr="Sudden s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463040"/>
            <a:ext cx="512064" cy="1280160"/>
          </a:xfrm>
          <a:prstGeom prst="rect">
            <a:avLst/>
          </a:prstGeom>
        </p:spPr>
      </p:pic>
      <p:sp>
        <p:nvSpPr>
          <p:cNvPr id="5" name="Alert title 1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Sudden stop</a:t>
            </a:r>
            <a:endParaRPr lang="en-US" sz="1800" dirty="0"/>
          </a:p>
        </p:txBody>
      </p:sp>
      <p:sp>
        <p:nvSpPr>
          <p:cNvPr id="6" name="Alert text 1"/>
          <p:cNvSpPr txBox="1"/>
          <p:nvPr/>
        </p:nvSpPr>
        <p:spPr>
          <a:xfrm>
            <a:off x="73152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vehicle ahead brakes hard. Hard braking is detected.</a:t>
            </a:r>
            <a:endParaRPr lang="en-US" sz="1400" dirty="0"/>
          </a:p>
        </p:txBody>
      </p:sp>
      <p:sp>
        <p:nvSpPr>
          <p:cNvPr id="7" name="Level chip 1"/>
          <p:cNvSpPr/>
          <p:nvPr/>
        </p:nvSpPr>
        <p:spPr>
          <a:xfrm>
            <a:off x="73152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Level text 1"/>
          <p:cNvSpPr txBox="1"/>
          <p:nvPr/>
        </p:nvSpPr>
        <p:spPr>
          <a:xfrm>
            <a:off x="73152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DANGER  red alert</a:t>
            </a:r>
            <a:endParaRPr lang="en-US" sz="1200" dirty="0"/>
          </a:p>
        </p:txBody>
      </p:sp>
      <p:sp>
        <p:nvSpPr>
          <p:cNvPr id="9" name="Alert card 2"/>
          <p:cNvSpPr/>
          <p:nvPr/>
        </p:nvSpPr>
        <p:spPr>
          <a:xfrm>
            <a:off x="333756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Alert image 2" descr="Road da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732788"/>
            <a:ext cx="1097280" cy="740664"/>
          </a:xfrm>
          <a:prstGeom prst="rect">
            <a:avLst/>
          </a:prstGeom>
        </p:spPr>
      </p:pic>
      <p:sp>
        <p:nvSpPr>
          <p:cNvPr id="11" name="Alert title 2"/>
          <p:cNvSpPr txBox="1"/>
          <p:nvPr/>
        </p:nvSpPr>
        <p:spPr>
          <a:xfrm>
            <a:off x="35204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Road damage</a:t>
            </a:r>
            <a:endParaRPr lang="en-US" sz="1800" dirty="0"/>
          </a:p>
        </p:txBody>
      </p:sp>
      <p:sp>
        <p:nvSpPr>
          <p:cNvPr id="12" name="Alert text 2"/>
          <p:cNvSpPr txBox="1"/>
          <p:nvPr/>
        </p:nvSpPr>
        <p:spPr>
          <a:xfrm>
            <a:off x="352044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Pothole or broken road surface in a lane.</a:t>
            </a:r>
            <a:endParaRPr lang="en-US" sz="1400" dirty="0"/>
          </a:p>
        </p:txBody>
      </p:sp>
      <p:sp>
        <p:nvSpPr>
          <p:cNvPr id="13" name="Level chip 2"/>
          <p:cNvSpPr/>
          <p:nvPr/>
        </p:nvSpPr>
        <p:spPr>
          <a:xfrm>
            <a:off x="352044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Level text 2"/>
          <p:cNvSpPr txBox="1"/>
          <p:nvPr/>
        </p:nvSpPr>
        <p:spPr>
          <a:xfrm>
            <a:off x="352044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WARNING  amber alert</a:t>
            </a:r>
            <a:endParaRPr lang="en-US" sz="1200" dirty="0"/>
          </a:p>
        </p:txBody>
      </p:sp>
      <p:sp>
        <p:nvSpPr>
          <p:cNvPr id="15" name="Alert card 3"/>
          <p:cNvSpPr/>
          <p:nvPr/>
        </p:nvSpPr>
        <p:spPr>
          <a:xfrm>
            <a:off x="612648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Alert image 3" descr="Accid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1463040"/>
            <a:ext cx="1024128" cy="1280160"/>
          </a:xfrm>
          <a:prstGeom prst="rect">
            <a:avLst/>
          </a:prstGeom>
        </p:spPr>
      </p:pic>
      <p:sp>
        <p:nvSpPr>
          <p:cNvPr id="17" name="Alert title 3"/>
          <p:cNvSpPr txBox="1"/>
          <p:nvPr/>
        </p:nvSpPr>
        <p:spPr>
          <a:xfrm>
            <a:off x="630936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Accident</a:t>
            </a:r>
            <a:endParaRPr lang="en-US" sz="1800" dirty="0"/>
          </a:p>
        </p:txBody>
      </p:sp>
      <p:sp>
        <p:nvSpPr>
          <p:cNvPr id="18" name="Alert text 3"/>
          <p:cNvSpPr txBox="1"/>
          <p:nvPr/>
        </p:nvSpPr>
        <p:spPr>
          <a:xfrm>
            <a:off x="630936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Crash on the road ahead. The lane may be blocked.</a:t>
            </a:r>
            <a:endParaRPr lang="en-US" sz="1400" dirty="0"/>
          </a:p>
        </p:txBody>
      </p:sp>
      <p:sp>
        <p:nvSpPr>
          <p:cNvPr id="19" name="Level chip 3"/>
          <p:cNvSpPr/>
          <p:nvPr/>
        </p:nvSpPr>
        <p:spPr>
          <a:xfrm>
            <a:off x="630936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Level text 3"/>
          <p:cNvSpPr txBox="1"/>
          <p:nvPr/>
        </p:nvSpPr>
        <p:spPr>
          <a:xfrm>
            <a:off x="630936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DANGER  red alert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New: smarter alerts</a:t>
            </a:r>
            <a:endParaRPr lang="en-US" sz="3400" dirty="0"/>
          </a:p>
        </p:txBody>
      </p:sp>
      <p:sp>
        <p:nvSpPr>
          <p:cNvPr id="3" name="Alert card 1"/>
          <p:cNvSpPr/>
          <p:nvPr/>
        </p:nvSpPr>
        <p:spPr>
          <a:xfrm>
            <a:off x="54864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lert title 1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Smart lane change</a:t>
            </a:r>
            <a:endParaRPr lang="en-US" sz="1800" dirty="0"/>
          </a:p>
        </p:txBody>
      </p:sp>
      <p:sp>
        <p:nvSpPr>
          <p:cNvPr id="6" name="Alert text 1"/>
          <p:cNvSpPr txBox="1"/>
          <p:nvPr/>
        </p:nvSpPr>
        <p:spPr>
          <a:xfrm>
            <a:off x="73152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Cars behind a stopped vehicle move to a free lane and keep moving.</a:t>
            </a:r>
            <a:endParaRPr lang="en-US" sz="1400" dirty="0"/>
          </a:p>
        </p:txBody>
      </p:sp>
      <p:sp>
        <p:nvSpPr>
          <p:cNvPr id="7" name="Level chip 1"/>
          <p:cNvSpPr/>
          <p:nvPr/>
        </p:nvSpPr>
        <p:spPr>
          <a:xfrm>
            <a:off x="73152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noFill/>
            <a:prstDash val="solid"/>
          </a:ln>
        </p:spPr>
      </p:sp>
      <p:sp>
        <p:nvSpPr>
          <p:cNvPr id="8" name="Level text 1"/>
          <p:cNvSpPr txBox="1"/>
          <p:nvPr/>
        </p:nvSpPr>
        <p:spPr>
          <a:xfrm>
            <a:off x="73152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SMART  keeps moving</a:t>
            </a:r>
            <a:endParaRPr lang="en-US" sz="1200" dirty="0"/>
          </a:p>
        </p:txBody>
      </p:sp>
      <p:sp>
        <p:nvSpPr>
          <p:cNvPr id="9" name="Alert card 2"/>
          <p:cNvSpPr/>
          <p:nvPr/>
        </p:nvSpPr>
        <p:spPr>
          <a:xfrm>
            <a:off x="333756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lert title 2"/>
          <p:cNvSpPr txBox="1"/>
          <p:nvPr/>
        </p:nvSpPr>
        <p:spPr>
          <a:xfrm>
            <a:off x="35204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Blind person</a:t>
            </a:r>
            <a:endParaRPr lang="en-US" sz="1800" dirty="0"/>
          </a:p>
        </p:txBody>
      </p:sp>
      <p:sp>
        <p:nvSpPr>
          <p:cNvPr id="12" name="Alert text 2"/>
          <p:cNvSpPr txBox="1"/>
          <p:nvPr/>
        </p:nvSpPr>
        <p:spPr>
          <a:xfrm>
            <a:off x="352044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blind person is on the road. All vehicles stop and wait.</a:t>
            </a:r>
            <a:endParaRPr lang="en-US" sz="1400" dirty="0"/>
          </a:p>
        </p:txBody>
      </p:sp>
      <p:sp>
        <p:nvSpPr>
          <p:cNvPr id="13" name="Level chip 2"/>
          <p:cNvSpPr/>
          <p:nvPr/>
        </p:nvSpPr>
        <p:spPr>
          <a:xfrm>
            <a:off x="352044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 w="12700">
            <a:noFill/>
            <a:prstDash val="solid"/>
          </a:ln>
        </p:spPr>
      </p:sp>
      <p:sp>
        <p:nvSpPr>
          <p:cNvPr id="14" name="Level text 2"/>
          <p:cNvSpPr txBox="1"/>
          <p:nvPr/>
        </p:nvSpPr>
        <p:spPr>
          <a:xfrm>
            <a:off x="352044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DANGER  red alert</a:t>
            </a:r>
            <a:endParaRPr lang="en-US" sz="1200" dirty="0"/>
          </a:p>
        </p:txBody>
      </p:sp>
      <p:sp>
        <p:nvSpPr>
          <p:cNvPr id="15" name="Alert card 3"/>
          <p:cNvSpPr/>
          <p:nvPr/>
        </p:nvSpPr>
        <p:spPr>
          <a:xfrm>
            <a:off x="6126480" y="128016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lert title 3"/>
          <p:cNvSpPr txBox="1"/>
          <p:nvPr/>
        </p:nvSpPr>
        <p:spPr>
          <a:xfrm>
            <a:off x="630936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Drunk driver</a:t>
            </a:r>
            <a:endParaRPr lang="en-US" sz="1800" dirty="0"/>
          </a:p>
        </p:txBody>
      </p:sp>
      <p:sp>
        <p:nvSpPr>
          <p:cNvPr id="18" name="Alert text 3"/>
          <p:cNvSpPr txBox="1"/>
          <p:nvPr/>
        </p:nvSpPr>
        <p:spPr>
          <a:xfrm>
            <a:off x="630936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Alcohol sensor warns all vehicles within 300 m.</a:t>
            </a:r>
            <a:endParaRPr lang="en-US" sz="1400" dirty="0"/>
          </a:p>
        </p:txBody>
      </p:sp>
      <p:sp>
        <p:nvSpPr>
          <p:cNvPr id="19" name="Level chip 3"/>
          <p:cNvSpPr/>
          <p:nvPr/>
        </p:nvSpPr>
        <p:spPr>
          <a:xfrm>
            <a:off x="6309360" y="4069080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Level text 3"/>
          <p:cNvSpPr txBox="1"/>
          <p:nvPr/>
        </p:nvSpPr>
        <p:spPr>
          <a:xfrm>
            <a:off x="6309360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DANGER  red alert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pic>
        <p:nvPicPr>
          <p:cNvPr id="26" name="Picture 25" descr="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080" y="1400000"/>
            <a:ext cx="1150000" cy="1150000"/>
          </a:xfrm>
          <a:prstGeom prst="rect">
            <a:avLst/>
          </a:prstGeom>
        </p:spPr>
      </p:pic>
      <p:pic>
        <p:nvPicPr>
          <p:cNvPr id="27" name="Picture 26" descr="bl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000" y="1400000"/>
            <a:ext cx="1150000" cy="1150000"/>
          </a:xfrm>
          <a:prstGeom prst="rect">
            <a:avLst/>
          </a:prstGeom>
        </p:spPr>
      </p:pic>
      <p:pic>
        <p:nvPicPr>
          <p:cNvPr id="28" name="Picture 27" descr="dru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5920" y="1400000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do the other vehicles know?</a:t>
            </a:r>
            <a:endParaRPr lang="en-US" sz="34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ompare chip 1"/>
          <p:cNvSpPr/>
          <p:nvPr/>
        </p:nvSpPr>
        <p:spPr>
          <a:xfrm>
            <a:off x="731520" y="14173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mpare chip text 1"/>
          <p:cNvSpPr txBox="1"/>
          <p:nvPr/>
        </p:nvSpPr>
        <p:spPr>
          <a:xfrm>
            <a:off x="73152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WITHOUT ALERTS</a:t>
            </a:r>
            <a:endParaRPr lang="en-US" sz="1200" dirty="0"/>
          </a:p>
        </p:txBody>
      </p:sp>
      <p:sp>
        <p:nvSpPr>
          <p:cNvPr id="6" name="Mini road 1"/>
          <p:cNvSpPr/>
          <p:nvPr/>
        </p:nvSpPr>
        <p:spPr>
          <a:xfrm>
            <a:off x="777240" y="1920240"/>
            <a:ext cx="822960" cy="251460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Mini truck 1" descr="Truck that sto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93392"/>
            <a:ext cx="274320" cy="685800"/>
          </a:xfrm>
          <a:prstGeom prst="rect">
            <a:avLst/>
          </a:prstGeom>
        </p:spPr>
      </p:pic>
      <p:pic>
        <p:nvPicPr>
          <p:cNvPr id="8" name="Mini car 1-1" descr="Car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788920"/>
            <a:ext cx="256032" cy="512064"/>
          </a:xfrm>
          <a:prstGeom prst="rect">
            <a:avLst/>
          </a:prstGeom>
        </p:spPr>
      </p:pic>
      <p:pic>
        <p:nvPicPr>
          <p:cNvPr id="9" name="Mini car 1-2" descr="Car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337560"/>
            <a:ext cx="256032" cy="512064"/>
          </a:xfrm>
          <a:prstGeom prst="rect">
            <a:avLst/>
          </a:prstGeom>
        </p:spPr>
      </p:pic>
      <p:pic>
        <p:nvPicPr>
          <p:cNvPr id="10" name="Mini car 1-3" descr="Car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886200"/>
            <a:ext cx="256032" cy="512064"/>
          </a:xfrm>
          <a:prstGeom prst="rect">
            <a:avLst/>
          </a:prstGeom>
        </p:spPr>
      </p:pic>
      <p:pic>
        <p:nvPicPr>
          <p:cNvPr id="11" name="Mini crash" descr="Cra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548640" cy="685800"/>
          </a:xfrm>
          <a:prstGeom prst="rect">
            <a:avLst/>
          </a:prstGeom>
        </p:spPr>
      </p:pic>
      <p:sp>
        <p:nvSpPr>
          <p:cNvPr id="12" name="Compare bullets 1"/>
          <p:cNvSpPr txBox="1"/>
          <p:nvPr/>
        </p:nvSpPr>
        <p:spPr>
          <a:xfrm>
            <a:off x="2148840" y="19202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driver sees only the vehicle in front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Reaction takes about 1.4 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Result: chain crash, 3 vehicles at 90 km/h</a:t>
            </a:r>
            <a:endParaRPr lang="en-US" sz="1400" dirty="0"/>
          </a:p>
        </p:txBody>
      </p:sp>
      <p:sp>
        <p:nvSpPr>
          <p:cNvPr id="13" name="Compare card 2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ompare chip 2"/>
          <p:cNvSpPr/>
          <p:nvPr/>
        </p:nvSpPr>
        <p:spPr>
          <a:xfrm>
            <a:off x="4846320" y="14173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ompare chip text 2"/>
          <p:cNvSpPr txBox="1"/>
          <p:nvPr/>
        </p:nvSpPr>
        <p:spPr>
          <a:xfrm>
            <a:off x="484632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WITH BROADCAST ALERTS</a:t>
            </a:r>
            <a:endParaRPr lang="en-US" sz="1200" dirty="0"/>
          </a:p>
        </p:txBody>
      </p:sp>
      <p:sp>
        <p:nvSpPr>
          <p:cNvPr id="16" name="Mini road 2"/>
          <p:cNvSpPr/>
          <p:nvPr/>
        </p:nvSpPr>
        <p:spPr>
          <a:xfrm>
            <a:off x="4892040" y="1920240"/>
            <a:ext cx="822960" cy="251460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Mini truck 2" descr="Truck that stopp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993392"/>
            <a:ext cx="274320" cy="685800"/>
          </a:xfrm>
          <a:prstGeom prst="rect">
            <a:avLst/>
          </a:prstGeom>
        </p:spPr>
      </p:pic>
      <p:pic>
        <p:nvPicPr>
          <p:cNvPr id="18" name="Mini car 2-1" descr="Car 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4" y="2788920"/>
            <a:ext cx="256032" cy="512064"/>
          </a:xfrm>
          <a:prstGeom prst="rect">
            <a:avLst/>
          </a:prstGeom>
        </p:spPr>
      </p:pic>
      <p:pic>
        <p:nvPicPr>
          <p:cNvPr id="19" name="Mini car 2-2" descr="Car 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4" y="3337560"/>
            <a:ext cx="256032" cy="512064"/>
          </a:xfrm>
          <a:prstGeom prst="rect">
            <a:avLst/>
          </a:prstGeom>
        </p:spPr>
      </p:pic>
      <p:pic>
        <p:nvPicPr>
          <p:cNvPr id="20" name="Mini car 2-3" descr="Car 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504" y="3886200"/>
            <a:ext cx="256032" cy="512064"/>
          </a:xfrm>
          <a:prstGeom prst="rect">
            <a:avLst/>
          </a:prstGeom>
        </p:spPr>
      </p:pic>
      <p:sp>
        <p:nvSpPr>
          <p:cNvPr id="21" name="Broadcast 2 circle"/>
          <p:cNvSpPr/>
          <p:nvPr/>
        </p:nvSpPr>
        <p:spPr>
          <a:xfrm>
            <a:off x="5760720" y="210312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Broadcast 2 icon" descr="Broadcast 2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5818" y="2198218"/>
            <a:ext cx="175565" cy="175565"/>
          </a:xfrm>
          <a:prstGeom prst="rect">
            <a:avLst/>
          </a:prstGeom>
        </p:spPr>
      </p:pic>
      <p:sp>
        <p:nvSpPr>
          <p:cNvPr id="23" name="Compare bullets 2"/>
          <p:cNvSpPr txBox="1"/>
          <p:nvPr/>
        </p:nvSpPr>
        <p:spPr>
          <a:xfrm>
            <a:off x="6263640" y="19202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detecting vehicle broadcasts the alert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vehicle behind gets it in about 0.25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Result: everyone slows early, 0 crashes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alert reaches other vehicles</a:t>
            </a:r>
            <a:endParaRPr lang="en-US" sz="3400" dirty="0"/>
          </a:p>
        </p:txBody>
      </p:sp>
      <p:sp>
        <p:nvSpPr>
          <p:cNvPr id="3" name="Arrow 1"/>
          <p:cNvSpPr/>
          <p:nvPr/>
        </p:nvSpPr>
        <p:spPr>
          <a:xfrm>
            <a:off x="12801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" name="Step 1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5486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vehicle senses hard braking, a pothole or a crash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3375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ep 2 circle"/>
          <p:cNvSpPr/>
          <p:nvPr/>
        </p:nvSpPr>
        <p:spPr>
          <a:xfrm>
            <a:off x="26060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61" y="1629461"/>
            <a:ext cx="307238" cy="307238"/>
          </a:xfrm>
          <a:prstGeom prst="rect">
            <a:avLst/>
          </a:prstGeom>
        </p:spPr>
      </p:pic>
      <p:sp>
        <p:nvSpPr>
          <p:cNvPr id="11" name="Step title 2"/>
          <p:cNvSpPr txBox="1"/>
          <p:nvPr/>
        </p:nvSpPr>
        <p:spPr>
          <a:xfrm>
            <a:off x="2606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Broadcast</a:t>
            </a:r>
            <a:endParaRPr lang="en-US" sz="2000" dirty="0"/>
          </a:p>
        </p:txBody>
      </p:sp>
      <p:sp>
        <p:nvSpPr>
          <p:cNvPr id="12" name="Step text 2"/>
          <p:cNvSpPr txBox="1"/>
          <p:nvPr/>
        </p:nvSpPr>
        <p:spPr>
          <a:xfrm>
            <a:off x="26060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It sends a message by V2V radio or the mobile network</a:t>
            </a:r>
            <a:endParaRPr lang="en-US" sz="1400" dirty="0"/>
          </a:p>
        </p:txBody>
      </p:sp>
      <p:sp>
        <p:nvSpPr>
          <p:cNvPr id="13" name="Arrow 3"/>
          <p:cNvSpPr/>
          <p:nvPr/>
        </p:nvSpPr>
        <p:spPr>
          <a:xfrm>
            <a:off x="53949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tep 3 circle"/>
          <p:cNvSpPr/>
          <p:nvPr/>
        </p:nvSpPr>
        <p:spPr>
          <a:xfrm>
            <a:off x="46634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1629461"/>
            <a:ext cx="307238" cy="307238"/>
          </a:xfrm>
          <a:prstGeom prst="rect">
            <a:avLst/>
          </a:prstGeom>
        </p:spPr>
      </p:pic>
      <p:sp>
        <p:nvSpPr>
          <p:cNvPr id="16" name="Step title 3"/>
          <p:cNvSpPr txBox="1"/>
          <p:nvPr/>
        </p:nvSpPr>
        <p:spPr>
          <a:xfrm>
            <a:off x="46634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Deliver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46634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vehicle behind the hazard, within 700 m, receives it</a:t>
            </a:r>
            <a:endParaRPr lang="en-US" sz="1400" dirty="0"/>
          </a:p>
        </p:txBody>
      </p:sp>
      <p:sp>
        <p:nvSpPr>
          <p:cNvPr id="18" name="Step 4 circle"/>
          <p:cNvSpPr/>
          <p:nvPr/>
        </p:nvSpPr>
        <p:spPr>
          <a:xfrm>
            <a:off x="67208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1629461"/>
            <a:ext cx="307238" cy="307238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67208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Warn and brake</a:t>
            </a:r>
            <a:endParaRPr lang="en-US" sz="2000" dirty="0"/>
          </a:p>
        </p:txBody>
      </p:sp>
      <p:sp>
        <p:nvSpPr>
          <p:cNvPr id="21" name="Step text 4"/>
          <p:cNvSpPr txBox="1"/>
          <p:nvPr/>
        </p:nvSpPr>
        <p:spPr>
          <a:xfrm>
            <a:off x="67208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Banner, beep and voice alert, and the car slows early</a:t>
            </a:r>
            <a:endParaRPr lang="en-US" sz="1400" dirty="0"/>
          </a:p>
        </p:txBody>
      </p:sp>
      <p:sp>
        <p:nvSpPr>
          <p:cNvPr id="22" name="Range note"/>
          <p:cNvSpPr/>
          <p:nvPr/>
        </p:nvSpPr>
        <p:spPr>
          <a:xfrm>
            <a:off x="548640" y="384048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Range note text"/>
          <p:cNvSpPr txBox="1"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vehicles behind the hazard, within 700 m, are alerted. Delivery takes about 0.25 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triggers a broadcast</a:t>
            </a:r>
            <a:endParaRPr lang="en-US" sz="3400" dirty="0"/>
          </a:p>
        </p:txBody>
      </p:sp>
      <p:graphicFrame>
        <p:nvGraphicFramePr>
          <p:cNvPr id="7" name="Trigg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50000"/>
          <a:ext cx="8046720" cy="25800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011680"/>
                <a:gridCol w="2011680"/>
              </a:tblGrid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Detected by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Message sent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Who gets it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Sudden stop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Hard braking, more than 6.5 m/s2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Sudden stop ahead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Vehicles behind, within 700 m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Road damage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First vehicle that comes within 45 m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Road damage ahead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Vehicles behind it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Accident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Crash sensor of the crashed vehicle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Accident ahead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Vehicles behind it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Blind person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Smart cane or camera sees a person on the road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Blind person on road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Vehicles behind, within 700 m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Drunk driver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Alcohol sensor in the car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Drunk driver nearby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All vehicles within 300 m</a:t>
                      </a:r>
                      <a:endParaRPr lang="en-US" sz="1400" dirty="0"/>
                    </a:p>
                  </a:txBody>
                  <a:tcPr marL="91440" marR="91440" marT="30000" marB="300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used</a:t>
            </a:r>
            <a:endParaRPr lang="en-US" sz="3400" dirty="0"/>
          </a:p>
        </p:txBody>
      </p:sp>
      <p:sp>
        <p:nvSpPr>
          <p:cNvPr id="3" name="Tech card 1"/>
          <p:cNvSpPr/>
          <p:nvPr/>
        </p:nvSpPr>
        <p:spPr>
          <a:xfrm>
            <a:off x="54864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ch 1 circle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Tech 1 icon" descr="Tech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39519"/>
            <a:ext cx="241402" cy="241402"/>
          </a:xfrm>
          <a:prstGeom prst="rect">
            <a:avLst/>
          </a:prstGeom>
        </p:spPr>
      </p:pic>
      <p:sp>
        <p:nvSpPr>
          <p:cNvPr id="6" name="Tech title 1"/>
          <p:cNvSpPr txBox="1"/>
          <p:nvPr/>
        </p:nvSpPr>
        <p:spPr>
          <a:xfrm>
            <a:off x="13716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HTML5 Canvas</a:t>
            </a:r>
            <a:endParaRPr lang="en-US" sz="1600" dirty="0"/>
          </a:p>
        </p:txBody>
      </p:sp>
      <p:sp>
        <p:nvSpPr>
          <p:cNvPr id="7" name="Tech text 1"/>
          <p:cNvSpPr txBox="1"/>
          <p:nvPr/>
        </p:nvSpPr>
        <p:spPr>
          <a:xfrm>
            <a:off x="73152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Draws the road, vehicles and radar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33756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ch 2 circle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ech 2 icon" descr="Tech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639519"/>
            <a:ext cx="241402" cy="241402"/>
          </a:xfrm>
          <a:prstGeom prst="rect">
            <a:avLst/>
          </a:prstGeom>
        </p:spPr>
      </p:pic>
      <p:sp>
        <p:nvSpPr>
          <p:cNvPr id="11" name="Tech title 2"/>
          <p:cNvSpPr txBox="1"/>
          <p:nvPr/>
        </p:nvSpPr>
        <p:spPr>
          <a:xfrm>
            <a:off x="41605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2" name="Tech text 2"/>
          <p:cNvSpPr txBox="1"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Moves vehicles and detects dangers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ch 3 circle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Tech 3 icon" descr="Tech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639519"/>
            <a:ext cx="241402" cy="241402"/>
          </a:xfrm>
          <a:prstGeom prst="rect">
            <a:avLst/>
          </a:prstGeom>
        </p:spPr>
      </p:pic>
      <p:sp>
        <p:nvSpPr>
          <p:cNvPr id="16" name="Tech title 3"/>
          <p:cNvSpPr txBox="1"/>
          <p:nvPr/>
        </p:nvSpPr>
        <p:spPr>
          <a:xfrm>
            <a:off x="69494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SVG images</a:t>
            </a:r>
            <a:endParaRPr lang="en-US" sz="1600" dirty="0"/>
          </a:p>
        </p:txBody>
      </p:sp>
      <p:sp>
        <p:nvSpPr>
          <p:cNvPr id="17" name="Tech text 3"/>
          <p:cNvSpPr txBox="1"/>
          <p:nvPr/>
        </p:nvSpPr>
        <p:spPr>
          <a:xfrm>
            <a:off x="630936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Car, truck, pothole and accident art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5486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ch 4 circle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Tech 4 icon" descr="Tech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285439"/>
            <a:ext cx="241402" cy="241402"/>
          </a:xfrm>
          <a:prstGeom prst="rect">
            <a:avLst/>
          </a:prstGeom>
        </p:spPr>
      </p:pic>
      <p:sp>
        <p:nvSpPr>
          <p:cNvPr id="21" name="Tech title 4"/>
          <p:cNvSpPr txBox="1"/>
          <p:nvPr/>
        </p:nvSpPr>
        <p:spPr>
          <a:xfrm>
            <a:off x="1371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V2V broadcast</a:t>
            </a:r>
            <a:endParaRPr lang="en-US" sz="1600" dirty="0"/>
          </a:p>
        </p:txBody>
      </p:sp>
      <p:sp>
        <p:nvSpPr>
          <p:cNvPr id="22" name="Tech text 4"/>
          <p:cNvSpPr txBox="1"/>
          <p:nvPr/>
        </p:nvSpPr>
        <p:spPr>
          <a:xfrm>
            <a:off x="73152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Message to every vehicle behind</a:t>
            </a:r>
            <a:endParaRPr lang="en-US" sz="1400" dirty="0"/>
          </a:p>
        </p:txBody>
      </p:sp>
      <p:sp>
        <p:nvSpPr>
          <p:cNvPr id="23" name="Tech card 5"/>
          <p:cNvSpPr/>
          <p:nvPr/>
        </p:nvSpPr>
        <p:spPr>
          <a:xfrm>
            <a:off x="333756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ch 5 circle"/>
          <p:cNvSpPr/>
          <p:nvPr/>
        </p:nvSpPr>
        <p:spPr>
          <a:xfrm>
            <a:off x="3520440" y="3154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Tech 5 icon" descr="Tech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199" y="3285439"/>
            <a:ext cx="241402" cy="241402"/>
          </a:xfrm>
          <a:prstGeom prst="rect">
            <a:avLst/>
          </a:prstGeom>
        </p:spPr>
      </p:pic>
      <p:sp>
        <p:nvSpPr>
          <p:cNvPr id="26" name="Tech title 5"/>
          <p:cNvSpPr txBox="1"/>
          <p:nvPr/>
        </p:nvSpPr>
        <p:spPr>
          <a:xfrm>
            <a:off x="4160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Web Audio</a:t>
            </a:r>
            <a:endParaRPr lang="en-US" sz="1600" dirty="0"/>
          </a:p>
        </p:txBody>
      </p:sp>
      <p:sp>
        <p:nvSpPr>
          <p:cNvPr id="27" name="Tech text 5"/>
          <p:cNvSpPr txBox="1"/>
          <p:nvPr/>
        </p:nvSpPr>
        <p:spPr>
          <a:xfrm>
            <a:off x="35204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Beep sounds for every alert</a:t>
            </a:r>
            <a:endParaRPr lang="en-US" sz="14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ch 6 circle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Tech 6 icon" descr="Tech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119" y="3285439"/>
            <a:ext cx="241402" cy="241402"/>
          </a:xfrm>
          <a:prstGeom prst="rect">
            <a:avLst/>
          </a:prstGeom>
        </p:spPr>
      </p:pic>
      <p:sp>
        <p:nvSpPr>
          <p:cNvPr id="31" name="Tech title 6"/>
          <p:cNvSpPr txBox="1"/>
          <p:nvPr/>
        </p:nvSpPr>
        <p:spPr>
          <a:xfrm>
            <a:off x="694944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Voice alerts</a:t>
            </a:r>
            <a:endParaRPr lang="en-US" sz="1600" dirty="0"/>
          </a:p>
        </p:txBody>
      </p:sp>
      <p:sp>
        <p:nvSpPr>
          <p:cNvPr id="32" name="Tech text 6"/>
          <p:cNvSpPr txBox="1"/>
          <p:nvPr/>
        </p:nvSpPr>
        <p:spPr>
          <a:xfrm>
            <a:off x="63093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Spoken warnings for the driver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Camera and sensors</a:t>
            </a:r>
            <a:endParaRPr lang="en-US" sz="3400" dirty="0"/>
          </a:p>
        </p:txBody>
      </p:sp>
      <p:sp>
        <p:nvSpPr>
          <p:cNvPr id="3" name="Tech card 1"/>
          <p:cNvSpPr/>
          <p:nvPr/>
        </p:nvSpPr>
        <p:spPr>
          <a:xfrm>
            <a:off x="54864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ch 1 circle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ch title 1"/>
          <p:cNvSpPr txBox="1"/>
          <p:nvPr/>
        </p:nvSpPr>
        <p:spPr>
          <a:xfrm>
            <a:off x="13716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 camera</a:t>
            </a:r>
            <a:endParaRPr lang="en-US" sz="1600" dirty="0"/>
          </a:p>
        </p:txBody>
      </p:sp>
      <p:sp>
        <p:nvSpPr>
          <p:cNvPr id="7" name="Tech text 1"/>
          <p:cNvSpPr txBox="1"/>
          <p:nvPr/>
        </p:nvSpPr>
        <p:spPr>
          <a:xfrm>
            <a:off x="73152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Proposed: 1080p dashcam to spot people and potholes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33756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ch 2 circle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ch title 2"/>
          <p:cNvSpPr txBox="1"/>
          <p:nvPr/>
        </p:nvSpPr>
        <p:spPr>
          <a:xfrm>
            <a:off x="41605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Alcohol sensor</a:t>
            </a:r>
            <a:endParaRPr lang="en-US" sz="1600" dirty="0"/>
          </a:p>
        </p:txBody>
      </p:sp>
      <p:sp>
        <p:nvSpPr>
          <p:cNvPr id="12" name="Tech text 2"/>
          <p:cNvSpPr txBox="1"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In-car sensor (e.g. MQ-3) detects a drunk driver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ch 3 circle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ch title 3"/>
          <p:cNvSpPr txBox="1"/>
          <p:nvPr/>
        </p:nvSpPr>
        <p:spPr>
          <a:xfrm>
            <a:off x="69494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cane</a:t>
            </a:r>
            <a:endParaRPr lang="en-US" sz="1600" dirty="0"/>
          </a:p>
        </p:txBody>
      </p:sp>
      <p:sp>
        <p:nvSpPr>
          <p:cNvPr id="17" name="Tech text 3"/>
          <p:cNvSpPr txBox="1"/>
          <p:nvPr/>
        </p:nvSpPr>
        <p:spPr>
          <a:xfrm>
            <a:off x="630936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Blind person’s cane signals nearby cars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5486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ch 4 circle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ch title 4"/>
          <p:cNvSpPr txBox="1"/>
          <p:nvPr/>
        </p:nvSpPr>
        <p:spPr>
          <a:xfrm>
            <a:off x="1371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Crash sensor</a:t>
            </a:r>
            <a:endParaRPr lang="en-US" sz="1600" dirty="0"/>
          </a:p>
        </p:txBody>
      </p:sp>
      <p:sp>
        <p:nvSpPr>
          <p:cNvPr id="22" name="Tech text 4"/>
          <p:cNvSpPr txBox="1"/>
          <p:nvPr/>
        </p:nvSpPr>
        <p:spPr>
          <a:xfrm>
            <a:off x="73152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Accelerometer detects a crash or hard braking</a:t>
            </a:r>
            <a:endParaRPr lang="en-US" sz="1400" dirty="0"/>
          </a:p>
        </p:txBody>
      </p:sp>
      <p:sp>
        <p:nvSpPr>
          <p:cNvPr id="23" name="Tech card 5"/>
          <p:cNvSpPr/>
          <p:nvPr/>
        </p:nvSpPr>
        <p:spPr>
          <a:xfrm>
            <a:off x="333756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ch 5 circle"/>
          <p:cNvSpPr/>
          <p:nvPr/>
        </p:nvSpPr>
        <p:spPr>
          <a:xfrm>
            <a:off x="3520440" y="3154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ch title 5"/>
          <p:cNvSpPr txBox="1"/>
          <p:nvPr/>
        </p:nvSpPr>
        <p:spPr>
          <a:xfrm>
            <a:off x="4160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GPS</a:t>
            </a:r>
            <a:endParaRPr lang="en-US" sz="1600" dirty="0"/>
          </a:p>
        </p:txBody>
      </p:sp>
      <p:sp>
        <p:nvSpPr>
          <p:cNvPr id="27" name="Tech text 5"/>
          <p:cNvSpPr txBox="1"/>
          <p:nvPr/>
        </p:nvSpPr>
        <p:spPr>
          <a:xfrm>
            <a:off x="35204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True position and speed of each vehicle</a:t>
            </a:r>
            <a:endParaRPr lang="en-US" sz="14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ch 6 circle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ch title 6"/>
          <p:cNvSpPr txBox="1"/>
          <p:nvPr/>
        </p:nvSpPr>
        <p:spPr>
          <a:xfrm>
            <a:off x="694944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V2V / 5G radio</a:t>
            </a:r>
            <a:endParaRPr lang="en-US" sz="1600" dirty="0"/>
          </a:p>
        </p:txBody>
      </p:sp>
      <p:sp>
        <p:nvSpPr>
          <p:cNvPr id="32" name="Tech text 6"/>
          <p:cNvSpPr txBox="1"/>
          <p:nvPr/>
        </p:nvSpPr>
        <p:spPr>
          <a:xfrm>
            <a:off x="63093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Sends the alert to vehicles behind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33" name="Picture 32" descr="ic_came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" y="1639519"/>
            <a:ext cx="241402" cy="241402"/>
          </a:xfrm>
          <a:prstGeom prst="rect">
            <a:avLst/>
          </a:prstGeom>
        </p:spPr>
      </p:pic>
      <p:pic>
        <p:nvPicPr>
          <p:cNvPr id="34" name="Picture 33" descr="ic_alcoho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1199" y="1639519"/>
            <a:ext cx="241402" cy="241402"/>
          </a:xfrm>
          <a:prstGeom prst="rect">
            <a:avLst/>
          </a:prstGeom>
        </p:spPr>
      </p:pic>
      <p:pic>
        <p:nvPicPr>
          <p:cNvPr id="35" name="Picture 34" descr="ic_ca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0119" y="1639519"/>
            <a:ext cx="241402" cy="241402"/>
          </a:xfrm>
          <a:prstGeom prst="rect">
            <a:avLst/>
          </a:prstGeom>
        </p:spPr>
      </p:pic>
      <p:pic>
        <p:nvPicPr>
          <p:cNvPr id="36" name="Picture 35" descr="ic_cras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279" y="3285439"/>
            <a:ext cx="241402" cy="241402"/>
          </a:xfrm>
          <a:prstGeom prst="rect">
            <a:avLst/>
          </a:prstGeom>
        </p:spPr>
      </p:pic>
      <p:pic>
        <p:nvPicPr>
          <p:cNvPr id="37" name="Picture 36" descr="ic_gp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1199" y="3285439"/>
            <a:ext cx="241402" cy="241402"/>
          </a:xfrm>
          <a:prstGeom prst="rect">
            <a:avLst/>
          </a:prstGeom>
        </p:spPr>
      </p:pic>
      <p:pic>
        <p:nvPicPr>
          <p:cNvPr id="38" name="Picture 37" descr="ic_radi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0119" y="3285439"/>
            <a:ext cx="241402" cy="2414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8640" y="4480560"/>
            <a:ext cx="80467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B6B7B"/>
                </a:solidFill>
              </a:rPr>
              <a:t>Camera and sensors are proposed hardware. The current demo is a software simulation.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Hardware prototype</a:t>
            </a:r>
            <a:endParaRPr lang="en-US" sz="3400" dirty="0"/>
          </a:p>
        </p:txBody>
      </p:sp>
      <p:sp>
        <p:nvSpPr>
          <p:cNvPr id="3" name="Arrow 1"/>
          <p:cNvSpPr/>
          <p:nvPr/>
        </p:nvSpPr>
        <p:spPr>
          <a:xfrm>
            <a:off x="12801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" name="Step 1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5486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MPU6050, ultrasonic and MQ-3 sensors detect the danger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3375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ep 2 circle"/>
          <p:cNvSpPr/>
          <p:nvPr/>
        </p:nvSpPr>
        <p:spPr>
          <a:xfrm>
            <a:off x="26060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61" y="1629461"/>
            <a:ext cx="307238" cy="307238"/>
          </a:xfrm>
          <a:prstGeom prst="rect">
            <a:avLst/>
          </a:prstGeom>
        </p:spPr>
      </p:pic>
      <p:sp>
        <p:nvSpPr>
          <p:cNvPr id="11" name="Step title 2"/>
          <p:cNvSpPr txBox="1"/>
          <p:nvPr/>
        </p:nvSpPr>
        <p:spPr>
          <a:xfrm>
            <a:off x="2606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Broadcast</a:t>
            </a:r>
            <a:endParaRPr lang="en-US" sz="2000" dirty="0"/>
          </a:p>
        </p:txBody>
      </p:sp>
      <p:sp>
        <p:nvSpPr>
          <p:cNvPr id="12" name="Step text 2"/>
          <p:cNvSpPr txBox="1"/>
          <p:nvPr/>
        </p:nvSpPr>
        <p:spPr>
          <a:xfrm>
            <a:off x="26060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 ESP32 board sends an ESP-NOW message to all boards nearby</a:t>
            </a:r>
            <a:endParaRPr lang="en-US" sz="1400" dirty="0"/>
          </a:p>
        </p:txBody>
      </p:sp>
      <p:sp>
        <p:nvSpPr>
          <p:cNvPr id="13" name="Arrow 3"/>
          <p:cNvSpPr/>
          <p:nvPr/>
        </p:nvSpPr>
        <p:spPr>
          <a:xfrm>
            <a:off x="5394960" y="1783080"/>
            <a:ext cx="12344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tep 3 circle"/>
          <p:cNvSpPr/>
          <p:nvPr/>
        </p:nvSpPr>
        <p:spPr>
          <a:xfrm>
            <a:off x="46634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1629461"/>
            <a:ext cx="307238" cy="307238"/>
          </a:xfrm>
          <a:prstGeom prst="rect">
            <a:avLst/>
          </a:prstGeom>
        </p:spPr>
      </p:pic>
      <p:sp>
        <p:nvSpPr>
          <p:cNvPr id="16" name="Step title 3"/>
          <p:cNvSpPr txBox="1"/>
          <p:nvPr/>
        </p:nvSpPr>
        <p:spPr>
          <a:xfrm>
            <a:off x="46634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Deliver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46634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other board receives it in milliseconds</a:t>
            </a:r>
            <a:endParaRPr lang="en-US" sz="1400" dirty="0"/>
          </a:p>
        </p:txBody>
      </p:sp>
      <p:sp>
        <p:nvSpPr>
          <p:cNvPr id="18" name="Step 4 circle"/>
          <p:cNvSpPr/>
          <p:nvPr/>
        </p:nvSpPr>
        <p:spPr>
          <a:xfrm>
            <a:off x="6720840" y="14630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1629461"/>
            <a:ext cx="307238" cy="307238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67208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Warn</a:t>
            </a:r>
            <a:endParaRPr lang="en-US" sz="2000" dirty="0"/>
          </a:p>
        </p:txBody>
      </p:sp>
      <p:sp>
        <p:nvSpPr>
          <p:cNvPr id="21" name="Step text 4"/>
          <p:cNvSpPr txBox="1"/>
          <p:nvPr/>
        </p:nvSpPr>
        <p:spPr>
          <a:xfrm>
            <a:off x="6720840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OLED shows the alert, LED lights up, buzzer beeps</a:t>
            </a:r>
            <a:endParaRPr lang="en-US" sz="1400" dirty="0"/>
          </a:p>
        </p:txBody>
      </p:sp>
      <p:sp>
        <p:nvSpPr>
          <p:cNvPr id="22" name="Range note"/>
          <p:cNvSpPr/>
          <p:nvPr/>
        </p:nvSpPr>
        <p:spPr>
          <a:xfrm>
            <a:off x="548640" y="384048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Range note text"/>
          <p:cNvSpPr txBox="1"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Built with ESP32 boards. Range is tens of metres, so it shows the idea, not a road-ready 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 from the simulation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t label 1"/>
          <p:cNvSpPr txBox="1"/>
          <p:nvPr/>
        </p:nvSpPr>
        <p:spPr>
          <a:xfrm>
            <a:off x="8229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ALERTS OFF</a:t>
            </a:r>
            <a:endParaRPr lang="en-US" sz="1600" dirty="0"/>
          </a:p>
        </p:txBody>
      </p:sp>
      <p:sp>
        <p:nvSpPr>
          <p:cNvPr id="5" name="Stat number 1"/>
          <p:cNvSpPr txBox="1"/>
          <p:nvPr/>
        </p:nvSpPr>
        <p:spPr>
          <a:xfrm>
            <a:off x="822960" y="1783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</a:t>
            </a:r>
            <a:endParaRPr lang="en-US" sz="8000" dirty="0"/>
          </a:p>
        </p:txBody>
      </p:sp>
      <p:sp>
        <p:nvSpPr>
          <p:cNvPr id="6" name="Stat sub 1"/>
          <p:cNvSpPr txBox="1"/>
          <p:nvPr/>
        </p:nvSpPr>
        <p:spPr>
          <a:xfrm>
            <a:off x="82296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vehicles crash</a:t>
            </a:r>
            <a:endParaRPr lang="en-US" sz="2000" dirty="0"/>
          </a:p>
        </p:txBody>
      </p:sp>
      <p:sp>
        <p:nvSpPr>
          <p:cNvPr id="7" name="Stat card 2"/>
          <p:cNvSpPr/>
          <p:nvPr/>
        </p:nvSpPr>
        <p:spPr>
          <a:xfrm>
            <a:off x="466344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label 2"/>
          <p:cNvSpPr txBox="1"/>
          <p:nvPr/>
        </p:nvSpPr>
        <p:spPr>
          <a:xfrm>
            <a:off x="49377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ALERTS ON</a:t>
            </a:r>
            <a:endParaRPr lang="en-US" sz="1600" dirty="0"/>
          </a:p>
        </p:txBody>
      </p:sp>
      <p:sp>
        <p:nvSpPr>
          <p:cNvPr id="9" name="Stat number 2"/>
          <p:cNvSpPr txBox="1"/>
          <p:nvPr/>
        </p:nvSpPr>
        <p:spPr>
          <a:xfrm>
            <a:off x="4937760" y="1783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4"/>
                </a:solidFill>
              </a:rPr>
              <a:t>0</a:t>
            </a:r>
            <a:endParaRPr lang="en-US" sz="8000" dirty="0"/>
          </a:p>
        </p:txBody>
      </p:sp>
      <p:sp>
        <p:nvSpPr>
          <p:cNvPr id="10" name="Stat sub 2"/>
          <p:cNvSpPr txBox="1"/>
          <p:nvPr/>
        </p:nvSpPr>
        <p:spPr>
          <a:xfrm>
            <a:off x="493776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crashes</a:t>
            </a:r>
            <a:endParaRPr lang="en-US" sz="2000" dirty="0"/>
          </a:p>
        </p:txBody>
      </p:sp>
      <p:sp>
        <p:nvSpPr>
          <p:cNvPr id="11" name="Result notes"/>
          <p:cNvSpPr txBox="1"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Sudden stop at 90 km/h: the truck, You and Car B crash without alerts. An accident ahead gives the same.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At 120 km/h, 4 vehicles crash without alerts. These are simulation results, not real-world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choose this system?</a:t>
            </a:r>
            <a:endParaRPr lang="en-US" sz="3400" dirty="0"/>
          </a:p>
        </p:txBody>
      </p:sp>
      <p:sp>
        <p:nvSpPr>
          <p:cNvPr id="3" name="Tech card 1"/>
          <p:cNvSpPr/>
          <p:nvPr/>
        </p:nvSpPr>
        <p:spPr>
          <a:xfrm>
            <a:off x="54864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ch 1 circle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ch title 1"/>
          <p:cNvSpPr txBox="1"/>
          <p:nvPr/>
        </p:nvSpPr>
        <p:spPr>
          <a:xfrm>
            <a:off x="13716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Warns everyone</a:t>
            </a:r>
            <a:endParaRPr lang="en-US" sz="1600" dirty="0"/>
          </a:p>
        </p:txBody>
      </p:sp>
      <p:sp>
        <p:nvSpPr>
          <p:cNvPr id="7" name="Tech text 1"/>
          <p:cNvSpPr txBox="1"/>
          <p:nvPr/>
        </p:nvSpPr>
        <p:spPr>
          <a:xfrm>
            <a:off x="73152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alert reaches every car behind in 0.25 s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33756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ch 2 circle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ch title 2"/>
          <p:cNvSpPr txBox="1"/>
          <p:nvPr/>
        </p:nvSpPr>
        <p:spPr>
          <a:xfrm>
            <a:off x="41605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result</a:t>
            </a:r>
            <a:endParaRPr lang="en-US" sz="1600" dirty="0"/>
          </a:p>
        </p:txBody>
      </p:sp>
      <p:sp>
        <p:nvSpPr>
          <p:cNvPr id="12" name="Tech text 2"/>
          <p:cNvSpPr txBox="1"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Simulation: 3 crashes without alerts, 0 with alerts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32588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ch 3 circle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ch title 3"/>
          <p:cNvSpPr txBox="1"/>
          <p:nvPr/>
        </p:nvSpPr>
        <p:spPr>
          <a:xfrm>
            <a:off x="69494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Keeps moving</a:t>
            </a:r>
            <a:endParaRPr lang="en-US" sz="1600" dirty="0"/>
          </a:p>
        </p:txBody>
      </p:sp>
      <p:sp>
        <p:nvSpPr>
          <p:cNvPr id="17" name="Tech text 3"/>
          <p:cNvSpPr txBox="1"/>
          <p:nvPr/>
        </p:nvSpPr>
        <p:spPr>
          <a:xfrm>
            <a:off x="630936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Cars change lane instead of all stopping behind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54864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ch 4 circle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ch title 4"/>
          <p:cNvSpPr txBox="1"/>
          <p:nvPr/>
        </p:nvSpPr>
        <p:spPr>
          <a:xfrm>
            <a:off x="1371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Protects people</a:t>
            </a:r>
            <a:endParaRPr lang="en-US" sz="1600" dirty="0"/>
          </a:p>
        </p:txBody>
      </p:sp>
      <p:sp>
        <p:nvSpPr>
          <p:cNvPr id="22" name="Tech text 4"/>
          <p:cNvSpPr txBox="1"/>
          <p:nvPr/>
        </p:nvSpPr>
        <p:spPr>
          <a:xfrm>
            <a:off x="73152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Warns cars about a blind person on the road</a:t>
            </a:r>
            <a:endParaRPr lang="en-US" sz="1400" dirty="0"/>
          </a:p>
        </p:txBody>
      </p:sp>
      <p:sp>
        <p:nvSpPr>
          <p:cNvPr id="23" name="Tech card 5"/>
          <p:cNvSpPr/>
          <p:nvPr/>
        </p:nvSpPr>
        <p:spPr>
          <a:xfrm>
            <a:off x="333756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ch 5 circle"/>
          <p:cNvSpPr/>
          <p:nvPr/>
        </p:nvSpPr>
        <p:spPr>
          <a:xfrm>
            <a:off x="3520440" y="3154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ch title 5"/>
          <p:cNvSpPr txBox="1"/>
          <p:nvPr/>
        </p:nvSpPr>
        <p:spPr>
          <a:xfrm>
            <a:off x="4160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Drunk driver alert</a:t>
            </a:r>
            <a:endParaRPr lang="en-US" sz="1600" dirty="0"/>
          </a:p>
        </p:txBody>
      </p:sp>
      <p:sp>
        <p:nvSpPr>
          <p:cNvPr id="27" name="Tech text 5"/>
          <p:cNvSpPr txBox="1"/>
          <p:nvPr/>
        </p:nvSpPr>
        <p:spPr>
          <a:xfrm>
            <a:off x="35204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All vehicles within 300 m are warned</a:t>
            </a:r>
            <a:endParaRPr lang="en-US" sz="14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971800"/>
            <a:ext cx="24688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ch 6 circle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ch title 6"/>
          <p:cNvSpPr txBox="1"/>
          <p:nvPr/>
        </p:nvSpPr>
        <p:spPr>
          <a:xfrm>
            <a:off x="694944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Easy to deploy</a:t>
            </a:r>
            <a:endParaRPr lang="en-US" sz="1600" dirty="0"/>
          </a:p>
        </p:txBody>
      </p:sp>
      <p:sp>
        <p:nvSpPr>
          <p:cNvPr id="32" name="Tech text 6"/>
          <p:cNvSpPr txBox="1"/>
          <p:nvPr/>
        </p:nvSpPr>
        <p:spPr>
          <a:xfrm>
            <a:off x="63093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Uses the mobile network, no new road gear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" y="1639519"/>
            <a:ext cx="241402" cy="241402"/>
          </a:xfrm>
          <a:prstGeom prst="rect">
            <a:avLst/>
          </a:prstGeom>
        </p:spPr>
      </p:pic>
      <p:pic>
        <p:nvPicPr>
          <p:cNvPr id="34" name="Picture 33" descr="ic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1199" y="1639519"/>
            <a:ext cx="241402" cy="241402"/>
          </a:xfrm>
          <a:prstGeom prst="rect">
            <a:avLst/>
          </a:prstGeom>
        </p:spPr>
      </p:pic>
      <p:pic>
        <p:nvPicPr>
          <p:cNvPr id="35" name="Picture 34" descr="ic_lan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0119" y="1639519"/>
            <a:ext cx="241402" cy="24140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279" y="3285439"/>
            <a:ext cx="241402" cy="24140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1199" y="3285439"/>
            <a:ext cx="241402" cy="241402"/>
          </a:xfrm>
          <a:prstGeom prst="rect">
            <a:avLst/>
          </a:prstGeom>
        </p:spPr>
      </p:pic>
      <p:pic>
        <p:nvPicPr>
          <p:cNvPr id="38" name="Picture 37" descr="ic_n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0119" y="3285439"/>
            <a:ext cx="241402" cy="241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scope</a:t>
            </a:r>
            <a:endParaRPr lang="en-US" sz="3400" dirty="0"/>
          </a:p>
        </p:txBody>
      </p:sp>
      <p:sp>
        <p:nvSpPr>
          <p:cNvPr id="3" name="Future card 1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uture 1 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Future 1 icon" descr="Fu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20901"/>
            <a:ext cx="307238" cy="307238"/>
          </a:xfrm>
          <a:prstGeom prst="rect">
            <a:avLst/>
          </a:prstGeom>
        </p:spPr>
      </p:pic>
      <p:sp>
        <p:nvSpPr>
          <p:cNvPr id="6" name="Future text 1"/>
          <p:cNvSpPr txBox="1"/>
          <p:nvPr/>
        </p:nvSpPr>
        <p:spPr>
          <a:xfrm>
            <a:off x="164592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Maps API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Show alerts on a real map with live traffic</a:t>
            </a:r>
            <a:endParaRPr lang="en-US" sz="1800" dirty="0"/>
          </a:p>
        </p:txBody>
      </p:sp>
      <p:sp>
        <p:nvSpPr>
          <p:cNvPr id="7" name="Future card 2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Future 2 circle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Future 2 icon" descr="Fu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720901"/>
            <a:ext cx="307238" cy="307238"/>
          </a:xfrm>
          <a:prstGeom prst="rect">
            <a:avLst/>
          </a:prstGeom>
        </p:spPr>
      </p:pic>
      <p:sp>
        <p:nvSpPr>
          <p:cNvPr id="10" name="Future text 2"/>
          <p:cNvSpPr txBox="1"/>
          <p:nvPr/>
        </p:nvSpPr>
        <p:spPr>
          <a:xfrm>
            <a:off x="576072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 GPS data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Phone app sends true position and speed</a:t>
            </a:r>
            <a:endParaRPr lang="en-US" sz="1800" dirty="0"/>
          </a:p>
        </p:txBody>
      </p:sp>
      <p:sp>
        <p:nvSpPr>
          <p:cNvPr id="11" name="Future card 3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Future 3 circle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Future 3 icon" descr="Fu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366821"/>
            <a:ext cx="307238" cy="307238"/>
          </a:xfrm>
          <a:prstGeom prst="rect">
            <a:avLst/>
          </a:prstGeom>
        </p:spPr>
      </p:pic>
      <p:sp>
        <p:nvSpPr>
          <p:cNvPr id="14" name="Future text 3"/>
          <p:cNvSpPr txBox="1"/>
          <p:nvPr/>
        </p:nvSpPr>
        <p:spPr>
          <a:xfrm>
            <a:off x="1645920" y="3154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5G and V2X radio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Real vehicle-to-vehicle messages in milliseconds</a:t>
            </a:r>
            <a:endParaRPr lang="en-US" sz="1800" dirty="0"/>
          </a:p>
        </p:txBody>
      </p:sp>
      <p:sp>
        <p:nvSpPr>
          <p:cNvPr id="15" name="Future card 4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Future 4 circle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Future 4 icon" descr="Futu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366821"/>
            <a:ext cx="307238" cy="307238"/>
          </a:xfrm>
          <a:prstGeom prst="rect">
            <a:avLst/>
          </a:prstGeom>
        </p:spPr>
      </p:pic>
      <p:sp>
        <p:nvSpPr>
          <p:cNvPr id="18" name="Future text 4"/>
          <p:cNvSpPr txBox="1"/>
          <p:nvPr/>
        </p:nvSpPr>
        <p:spPr>
          <a:xfrm>
            <a:off x="5760720" y="3154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Camera + AI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Detect potholes, accidents and blind pedestrians automatically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One vehicle detects the hazard, every vehicle behind is warned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In the simulation, broadcast alerts removed the chain crash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Cars now change lane around a hazard; blind person and drunk driver alerts added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Next: real GPS, maps data and V2X radio</a:t>
            </a:r>
            <a:endParaRPr lang="en-US" sz="1800" dirty="0"/>
          </a:p>
        </p:txBody>
      </p:sp>
      <p:sp>
        <p:nvSpPr>
          <p:cNvPr id="4" name="Thank you"/>
          <p:cNvSpPr txBox="1"/>
          <p:nvPr/>
        </p:nvSpPr>
        <p:spPr>
          <a:xfrm>
            <a:off x="548640" y="4320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5" name="Closing road"/>
          <p:cNvSpPr/>
          <p:nvPr/>
        </p:nvSpPr>
        <p:spPr>
          <a:xfrm>
            <a:off x="5577840" y="548640"/>
            <a:ext cx="3017520" cy="40233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losing lane dash"/>
          <p:cNvSpPr/>
          <p:nvPr/>
        </p:nvSpPr>
        <p:spPr>
          <a:xfrm>
            <a:off x="6565392" y="6858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losing lane dash"/>
          <p:cNvSpPr/>
          <p:nvPr/>
        </p:nvSpPr>
        <p:spPr>
          <a:xfrm>
            <a:off x="6565392" y="11887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losing lane dash"/>
          <p:cNvSpPr/>
          <p:nvPr/>
        </p:nvSpPr>
        <p:spPr>
          <a:xfrm>
            <a:off x="6565392" y="16916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losing lane dash"/>
          <p:cNvSpPr/>
          <p:nvPr/>
        </p:nvSpPr>
        <p:spPr>
          <a:xfrm>
            <a:off x="6565392" y="219456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losing lane dash"/>
          <p:cNvSpPr/>
          <p:nvPr/>
        </p:nvSpPr>
        <p:spPr>
          <a:xfrm>
            <a:off x="6565392" y="269748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losing lane dash"/>
          <p:cNvSpPr/>
          <p:nvPr/>
        </p:nvSpPr>
        <p:spPr>
          <a:xfrm>
            <a:off x="6565392" y="32004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losing lane dash"/>
          <p:cNvSpPr/>
          <p:nvPr/>
        </p:nvSpPr>
        <p:spPr>
          <a:xfrm>
            <a:off x="6565392" y="37033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losing lane dash"/>
          <p:cNvSpPr/>
          <p:nvPr/>
        </p:nvSpPr>
        <p:spPr>
          <a:xfrm>
            <a:off x="6565392" y="42062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losing lane dash"/>
          <p:cNvSpPr/>
          <p:nvPr/>
        </p:nvSpPr>
        <p:spPr>
          <a:xfrm>
            <a:off x="7571232" y="6858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losing lane dash"/>
          <p:cNvSpPr/>
          <p:nvPr/>
        </p:nvSpPr>
        <p:spPr>
          <a:xfrm>
            <a:off x="7571232" y="11887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losing lane dash"/>
          <p:cNvSpPr/>
          <p:nvPr/>
        </p:nvSpPr>
        <p:spPr>
          <a:xfrm>
            <a:off x="7571232" y="16916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losing lane dash"/>
          <p:cNvSpPr/>
          <p:nvPr/>
        </p:nvSpPr>
        <p:spPr>
          <a:xfrm>
            <a:off x="7571232" y="219456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losing lane dash"/>
          <p:cNvSpPr/>
          <p:nvPr/>
        </p:nvSpPr>
        <p:spPr>
          <a:xfrm>
            <a:off x="7571232" y="269748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losing lane dash"/>
          <p:cNvSpPr/>
          <p:nvPr/>
        </p:nvSpPr>
        <p:spPr>
          <a:xfrm>
            <a:off x="7571232" y="320040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losing lane dash"/>
          <p:cNvSpPr/>
          <p:nvPr/>
        </p:nvSpPr>
        <p:spPr>
          <a:xfrm>
            <a:off x="7571232" y="370332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losing lane dash"/>
          <p:cNvSpPr/>
          <p:nvPr/>
        </p:nvSpPr>
        <p:spPr>
          <a:xfrm>
            <a:off x="7571232" y="4206240"/>
            <a:ext cx="36576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Closing truck" descr="Vehicle a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870509"/>
            <a:ext cx="502920" cy="1257300"/>
          </a:xfrm>
          <a:prstGeom prst="rect">
            <a:avLst/>
          </a:prstGeom>
        </p:spPr>
      </p:pic>
      <p:pic>
        <p:nvPicPr>
          <p:cNvPr id="23" name="Closing car" descr="Your 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57" y="3525926"/>
            <a:ext cx="462686" cy="925373"/>
          </a:xfrm>
          <a:prstGeom prst="rect">
            <a:avLst/>
          </a:prstGeom>
        </p:spPr>
      </p:pic>
      <p:pic>
        <p:nvPicPr>
          <p:cNvPr id="24" name="Closing pothole" descr="Road da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58" y="2560320"/>
            <a:ext cx="724205" cy="488838"/>
          </a:xfrm>
          <a:prstGeom prst="rect">
            <a:avLst/>
          </a:prstGeom>
        </p:spPr>
      </p:pic>
      <p:pic>
        <p:nvPicPr>
          <p:cNvPr id="25" name="Closing accident" descr="Accid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46" y="991210"/>
            <a:ext cx="824789" cy="1030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ighway Alert">
  <a:themeElements>
    <a:clrScheme name="Highway Alert">
      <a:dk1>
        <a:srgbClr val="1B2430"/>
      </a:dk1>
      <a:lt1>
        <a:srgbClr val="FFFFFF"/>
      </a:lt1>
      <a:dk2>
        <a:srgbClr val="0F1720"/>
      </a:dk2>
      <a:lt2>
        <a:srgbClr val="EEF2F6"/>
      </a:lt2>
      <a:accent1>
        <a:srgbClr val="F59E0B"/>
      </a:accent1>
      <a:accent2>
        <a:srgbClr val="D32F2F"/>
      </a:accent2>
      <a:accent3>
        <a:srgbClr val="1E88E5"/>
      </a:accent3>
      <a:accent4>
        <a:srgbClr val="2E8B57"/>
      </a:accent4>
      <a:accent5>
        <a:srgbClr val="5A6978"/>
      </a:accent5>
      <a:accent6>
        <a:srgbClr val="7E57C2"/>
      </a:accent6>
      <a:hlink>
        <a:srgbClr val="1E88E5"/>
      </a:hlink>
      <a:folHlink>
        <a:srgbClr val="7E57C2"/>
      </a:folHlink>
    </a:clrScheme>
    <a:fontScheme name="Highway Ale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Highway Alert System</dc:title>
  <dc:subject>PptxGenJS Presentation</dc:subject>
  <dc:creator>PptxGenJS</dc:creator>
  <cp:lastModifiedBy>PptxGenJS</cp:lastModifiedBy>
  <cp:revision>1</cp:revision>
  <dcterms:created xsi:type="dcterms:W3CDTF">2026-10-24T02:58:36Z</dcterms:created>
  <dcterms:modified xsi:type="dcterms:W3CDTF">2026-10-24T02:58:36Z</dcterms:modified>
</cp:coreProperties>
</file>